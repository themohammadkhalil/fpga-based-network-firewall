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999" cy="6858000" type="wide"/>
  <p:notesSz cx="6858000" cy="9144000"/>
  <p:defaultTextStyle>
    <a:defPPr>
      <a:defRPr lang="en-US"/>
    </a:defPPr>
    <a:lvl1pPr marL="0" algn="l">
      <a:defRPr sz="1800"/>
    </a:lvl1pPr>
  </p:defaultTextStyle>
</p:presentation>
</file>

<file path=ppt/presProps.xml><?xml version="1.0" encoding="utf-8"?>
<p:presentationPr xmlns:p="http://schemas.openxmlformats.org/presentationml/2006/main"/>
</file>

<file path=ppt/viewProps.xml><?xml version="1.0" encoding="utf-8"?>
<p:view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sut_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outer_fpga_laptop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op_level_flow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oard_top_flow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untime_sequence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glow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033"/>
          </a:solidFill>
          <a:ln>
            <a:noFill/>
          </a:ln>
        </p:spPr>
      </p:sp>
      <p:sp>
        <p:nvSpPr>
          <p:cNvPr id="3" name="Teal 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Amber bar"/>
          <p:cNvSpPr/>
          <p:nvPr/>
        </p:nvSpPr>
        <p:spPr>
          <a:xfrm>
            <a:off x="0" y="73152"/>
            <a:ext cx="384048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Logo plate"/>
          <p:cNvSpPr/>
          <p:nvPr/>
        </p:nvSpPr>
        <p:spPr>
          <a:xfrm>
            <a:off x="621792" y="475488"/>
            <a:ext cx="1133856" cy="1316736"/>
          </a:xfrm>
          <a:prstGeom prst="roundRect">
            <a:avLst/>
          </a:prstGeom>
          <a:solidFill>
            <a:srgbClr val="FFFFFF">
              <a:alpha val="94000"/>
            </a:srgbClr>
          </a:solidFill>
          <a:ln w="9525">
            <a:solidFill>
              <a:srgbClr val="46526A"/>
            </a:solidFill>
          </a:ln>
        </p:spPr>
      </p:sp>
      <p:pic>
        <p:nvPicPr>
          <p:cNvPr id="6" name="PSU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530352"/>
            <a:ext cx="952500" cy="1143000"/>
          </a:xfrm>
          <a:prstGeom prst="rect">
            <a:avLst/>
          </a:prstGeom>
        </p:spPr>
      </p:pic>
      <p:sp>
        <p:nvSpPr>
          <p:cNvPr id="7" name="University"/>
          <p:cNvSpPr txBox="1"/>
          <p:nvPr/>
        </p:nvSpPr>
        <p:spPr>
          <a:xfrm>
            <a:off x="1783080" y="749808"/>
            <a:ext cx="63093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70"/>
              </a:spcAft>
              <a:buNone/>
            </a:pPr>
            <a:r>
              <a:rPr lang="en-US" sz="1400" b="1" dirty="0">
                <a:solidFill>
                  <a:srgbClr val="D5DEEE"/>
                </a:solidFill>
                <a:latin typeface="Aptos"/>
                <a:cs typeface="Aptos"/>
              </a:rPr>
              <a:t>Princess Sumaya University for Technology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AEBBD2"/>
                </a:solidFill>
                <a:latin typeface="Aptos"/>
                <a:cs typeface="Aptos"/>
              </a:rPr>
              <a:t>King Abdullah II School of Engineering</a:t>
            </a:r>
          </a:p>
        </p:txBody>
      </p:sp>
      <p:sp>
        <p:nvSpPr>
          <p:cNvPr id="8" name="Main title"/>
          <p:cNvSpPr txBox="1"/>
          <p:nvPr/>
        </p:nvSpPr>
        <p:spPr>
          <a:xfrm>
            <a:off x="777240" y="1828800"/>
            <a:ext cx="987552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1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/>
                <a:cs typeface="Aptos Display"/>
              </a:rPr>
              <a:t>FPGA-Based Transparent</a:t>
            </a:r>
          </a:p>
          <a:p>
            <a:pPr algn="l">
              <a:spcAft>
                <a:spcPts val="15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/>
                <a:cs typeface="Aptos Display"/>
              </a:rPr>
              <a:t>Ethernet Bridge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700" dirty="0">
                <a:solidFill>
                  <a:srgbClr val="C9D5EA"/>
                </a:solidFill>
                <a:latin typeface="Aptos"/>
                <a:cs typeface="Aptos"/>
              </a:rPr>
              <a:t>Design and implementation for firewall development</a:t>
            </a:r>
          </a:p>
        </p:txBody>
      </p:sp>
      <p:sp>
        <p:nvSpPr>
          <p:cNvPr id="9" name="Title accent"/>
          <p:cNvSpPr/>
          <p:nvPr/>
        </p:nvSpPr>
        <p:spPr>
          <a:xfrm>
            <a:off x="804672" y="3538728"/>
            <a:ext cx="192024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0" name="People"/>
          <p:cNvSpPr txBox="1"/>
          <p:nvPr/>
        </p:nvSpPr>
        <p:spPr>
          <a:xfrm>
            <a:off x="804672" y="461772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ptos"/>
                <a:cs typeface="Aptos"/>
              </a:rPr>
              <a:t>Sara Abu_Saed  |  Mohammad Khalil  |  Bader Basel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50" dirty="0">
                <a:solidFill>
                  <a:srgbClr val="B8C4DA"/>
                </a:solidFill>
                <a:latin typeface="Aptos"/>
                <a:cs typeface="Aptos"/>
              </a:rPr>
              <a:t>Supervised by Eng. Hazem Marrar</a:t>
            </a:r>
          </a:p>
        </p:txBody>
      </p:sp>
      <p:sp>
        <p:nvSpPr>
          <p:cNvPr id="11" name="Spring pill"/>
          <p:cNvSpPr/>
          <p:nvPr/>
        </p:nvSpPr>
        <p:spPr>
          <a:xfrm>
            <a:off x="8961120" y="5687568"/>
            <a:ext cx="2331720" cy="438912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47536B"/>
            </a:solidFill>
          </a:ln>
        </p:spPr>
      </p:sp>
      <p:sp>
        <p:nvSpPr>
          <p:cNvPr id="12" name="Semester"/>
          <p:cNvSpPr txBox="1"/>
          <p:nvPr/>
        </p:nvSpPr>
        <p:spPr>
          <a:xfrm>
            <a:off x="9052560" y="581558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DCE6F8"/>
                </a:solidFill>
                <a:latin typeface="Aptos"/>
                <a:cs typeface="Aptos"/>
              </a:rPr>
              <a:t>Spring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What We Built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Active board result described in the final documentation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Active build card"/>
          <p:cNvSpPr/>
          <p:nvPr/>
        </p:nvSpPr>
        <p:spPr>
          <a:xfrm>
            <a:off x="713232" y="1600200"/>
            <a:ext cx="33375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6" name="Active build accent"/>
          <p:cNvSpPr/>
          <p:nvPr/>
        </p:nvSpPr>
        <p:spPr>
          <a:xfrm>
            <a:off x="713232" y="1600200"/>
            <a:ext cx="73152" cy="123444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7" name="Active build label"/>
          <p:cNvSpPr txBox="1"/>
          <p:nvPr/>
        </p:nvSpPr>
        <p:spPr>
          <a:xfrm>
            <a:off x="914400" y="1764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819" b="1" dirty="0">
                <a:solidFill>
                  <a:srgbClr val="00A6A6"/>
                </a:solidFill>
                <a:latin typeface="Aptos"/>
                <a:cs typeface="Aptos"/>
              </a:rPr>
              <a:t>ACTIVE BUILD</a:t>
            </a:r>
          </a:p>
        </p:txBody>
      </p:sp>
      <p:sp>
        <p:nvSpPr>
          <p:cNvPr id="8" name="Active build value"/>
          <p:cNvSpPr txBox="1"/>
          <p:nvPr/>
        </p:nvSpPr>
        <p:spPr>
          <a:xfrm>
            <a:off x="914400" y="2029968"/>
            <a:ext cx="3017520" cy="7406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B1324"/>
                </a:solidFill>
                <a:latin typeface="Aptos"/>
                <a:cs typeface="Aptos"/>
              </a:rPr>
              <a:t>Transparent two-port Ethernet bridge</a:t>
            </a:r>
          </a:p>
        </p:txBody>
      </p:sp>
      <p:sp>
        <p:nvSpPr>
          <p:cNvPr id="9" name="Active build wash"/>
          <p:cNvSpPr/>
          <p:nvPr/>
        </p:nvSpPr>
        <p:spPr>
          <a:xfrm>
            <a:off x="3611880" y="1746504"/>
            <a:ext cx="201168" cy="201168"/>
          </a:xfrm>
          <a:prstGeom prst="ellipse">
            <a:avLst/>
          </a:prstGeom>
          <a:solidFill>
            <a:srgbClr val="E4FAF6"/>
          </a:solidFill>
          <a:ln>
            <a:noFill/>
          </a:ln>
        </p:spPr>
      </p:sp>
      <p:sp>
        <p:nvSpPr>
          <p:cNvPr id="10" name="Hardware card"/>
          <p:cNvSpPr/>
          <p:nvPr/>
        </p:nvSpPr>
        <p:spPr>
          <a:xfrm>
            <a:off x="4434840" y="1600200"/>
            <a:ext cx="33375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1" name="Hardware accent"/>
          <p:cNvSpPr/>
          <p:nvPr/>
        </p:nvSpPr>
        <p:spPr>
          <a:xfrm>
            <a:off x="4434840" y="1600200"/>
            <a:ext cx="73152" cy="1234440"/>
          </a:xfrm>
          <a:prstGeom prst="rect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12" name="Hardware label"/>
          <p:cNvSpPr txBox="1"/>
          <p:nvPr/>
        </p:nvSpPr>
        <p:spPr>
          <a:xfrm>
            <a:off x="4636008" y="1764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819" b="1" dirty="0">
                <a:solidFill>
                  <a:srgbClr val="2557D6"/>
                </a:solidFill>
                <a:latin typeface="Aptos"/>
                <a:cs typeface="Aptos"/>
              </a:rPr>
              <a:t>HARDWARE</a:t>
            </a:r>
          </a:p>
        </p:txBody>
      </p:sp>
      <p:sp>
        <p:nvSpPr>
          <p:cNvPr id="13" name="Hardware value"/>
          <p:cNvSpPr txBox="1"/>
          <p:nvPr/>
        </p:nvSpPr>
        <p:spPr>
          <a:xfrm>
            <a:off x="4636008" y="2029968"/>
            <a:ext cx="3017520" cy="7406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B1324"/>
                </a:solidFill>
                <a:latin typeface="Aptos"/>
                <a:cs typeface="Aptos"/>
              </a:rPr>
              <a:t>Terasic DE2-115 between router and laptop</a:t>
            </a:r>
          </a:p>
        </p:txBody>
      </p:sp>
      <p:sp>
        <p:nvSpPr>
          <p:cNvPr id="14" name="Hardware wash"/>
          <p:cNvSpPr/>
          <p:nvPr/>
        </p:nvSpPr>
        <p:spPr>
          <a:xfrm>
            <a:off x="7333488" y="1746504"/>
            <a:ext cx="201168" cy="201168"/>
          </a:xfrm>
          <a:prstGeom prst="ellipse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15" name="Purpose card"/>
          <p:cNvSpPr/>
          <p:nvPr/>
        </p:nvSpPr>
        <p:spPr>
          <a:xfrm>
            <a:off x="8156448" y="1600200"/>
            <a:ext cx="33375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6" name="Purpose accent"/>
          <p:cNvSpPr/>
          <p:nvPr/>
        </p:nvSpPr>
        <p:spPr>
          <a:xfrm>
            <a:off x="815644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Purpose label"/>
          <p:cNvSpPr txBox="1"/>
          <p:nvPr/>
        </p:nvSpPr>
        <p:spPr>
          <a:xfrm>
            <a:off x="8357616" y="1764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819" b="1" dirty="0">
                <a:solidFill>
                  <a:srgbClr val="F59E0B"/>
                </a:solidFill>
                <a:latin typeface="Aptos"/>
                <a:cs typeface="Aptos"/>
              </a:rPr>
              <a:t>PURPOSE</a:t>
            </a:r>
          </a:p>
        </p:txBody>
      </p:sp>
      <p:sp>
        <p:nvSpPr>
          <p:cNvPr id="18" name="Purpose value"/>
          <p:cNvSpPr txBox="1"/>
          <p:nvPr/>
        </p:nvSpPr>
        <p:spPr>
          <a:xfrm>
            <a:off x="8357616" y="2029968"/>
            <a:ext cx="3017520" cy="7406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B1324"/>
                </a:solidFill>
                <a:latin typeface="Aptos"/>
                <a:cs typeface="Aptos"/>
              </a:rPr>
              <a:t>Foundation for future FPGA firewall integration</a:t>
            </a:r>
          </a:p>
        </p:txBody>
      </p:sp>
      <p:sp>
        <p:nvSpPr>
          <p:cNvPr id="19" name="Purpose wash"/>
          <p:cNvSpPr/>
          <p:nvPr/>
        </p:nvSpPr>
        <p:spPr>
          <a:xfrm>
            <a:off x="11055096" y="1746504"/>
            <a:ext cx="201168" cy="201168"/>
          </a:xfrm>
          <a:prstGeom prst="ellipse">
            <a:avLst/>
          </a:prstGeom>
          <a:solidFill>
            <a:srgbClr val="FFF4D7"/>
          </a:solidFill>
          <a:ln>
            <a:noFill/>
          </a:ln>
        </p:spPr>
      </p:sp>
      <p:sp>
        <p:nvSpPr>
          <p:cNvPr id="20" name="Scope bullets"/>
          <p:cNvSpPr txBox="1"/>
          <p:nvPr/>
        </p:nvSpPr>
        <p:spPr>
          <a:xfrm>
            <a:off x="868680" y="3456432"/>
            <a:ext cx="498348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50" dirty="0">
                <a:solidFill>
                  <a:srgbClr val="0B1324"/>
                </a:solidFill>
                <a:latin typeface="Aptos"/>
                <a:cs typeface="Aptos"/>
              </a:rPr>
              <a:t>Receives Ethernet traffic from one PHY interface.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50" dirty="0">
                <a:solidFill>
                  <a:srgbClr val="0B1324"/>
                </a:solidFill>
                <a:latin typeface="Aptos"/>
                <a:cs typeface="Aptos"/>
              </a:rPr>
              <a:t>Converts the RGMII receive stream into AXI-Stream frame bytes.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50" dirty="0">
                <a:solidFill>
                  <a:srgbClr val="0B1324"/>
                </a:solidFill>
                <a:latin typeface="Aptos"/>
                <a:cs typeface="Aptos"/>
              </a:rPr>
              <a:t>Transfers frames through asynchronous FIFOs.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50" dirty="0">
                <a:solidFill>
                  <a:srgbClr val="0B1324"/>
                </a:solidFill>
                <a:latin typeface="Aptos"/>
                <a:cs typeface="Aptos"/>
              </a:rPr>
              <a:t>Transmits frames through the opposite PHY interface.</a:t>
            </a:r>
          </a:p>
        </p:txBody>
      </p:sp>
      <p:sp>
        <p:nvSpPr>
          <p:cNvPr id="21" name="Scope panel"/>
          <p:cNvSpPr/>
          <p:nvPr/>
        </p:nvSpPr>
        <p:spPr>
          <a:xfrm>
            <a:off x="6419088" y="3337560"/>
            <a:ext cx="4480560" cy="1664208"/>
          </a:xfrm>
          <a:prstGeom prst="roundRect">
            <a:avLst/>
          </a:prstGeom>
          <a:solidFill>
            <a:srgbClr val="0B1324"/>
          </a:solidFill>
          <a:ln>
            <a:noFill/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22" name="Current scope"/>
          <p:cNvSpPr txBox="1"/>
          <p:nvPr/>
        </p:nvSpPr>
        <p:spPr>
          <a:xfrm>
            <a:off x="6656832" y="3593592"/>
            <a:ext cx="3986784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70"/>
              </a:spcAft>
              <a:buNone/>
            </a:pPr>
            <a:r>
              <a:rPr lang="en-US" sz="1000" b="1" dirty="0">
                <a:solidFill>
                  <a:srgbClr val="00A6A6"/>
                </a:solidFill>
                <a:latin typeface="Aptos"/>
                <a:cs typeface="Aptos"/>
              </a:rPr>
              <a:t>Current scope</a:t>
            </a:r>
          </a:p>
          <a:p>
            <a:pPr algn="l">
              <a:spcAft>
                <a:spcPts val="9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  <a:cs typeface="Aptos"/>
              </a:rPr>
              <a:t>Bridge datapath, FCS handling, clock-domain crossing, transmit framing.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C9D5EA"/>
                </a:solidFill>
                <a:latin typeface="Aptos"/>
                <a:cs typeface="Aptos"/>
              </a:rPr>
              <a:t>Live packet filtering remains future work.</a:t>
            </a:r>
          </a:p>
        </p:txBody>
      </p:sp>
      <p:sp>
        <p:nvSpPr>
          <p:cNvPr id="23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24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Live Test Setup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Router LAN port to FPGA bridge to laptop Ethernet port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Image panel"/>
          <p:cNvSpPr/>
          <p:nvPr/>
        </p:nvSpPr>
        <p:spPr>
          <a:xfrm>
            <a:off x="777240" y="1417320"/>
            <a:ext cx="6858000" cy="4069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pic>
        <p:nvPicPr>
          <p:cNvPr id="6" name="Router FPGA Lapt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65" y="1719072"/>
            <a:ext cx="5851607" cy="3291840"/>
          </a:xfrm>
          <a:prstGeom prst="rect">
            <a:avLst/>
          </a:prstGeom>
        </p:spPr>
      </p:pic>
      <p:sp>
        <p:nvSpPr>
          <p:cNvPr id="7" name="Setup bullets"/>
          <p:cNvSpPr txBox="1"/>
          <p:nvPr/>
        </p:nvSpPr>
        <p:spPr>
          <a:xfrm>
            <a:off x="8028432" y="1600200"/>
            <a:ext cx="3246120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One FPGA Ethernet port connects to the router LAN port.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The other FPGA Ethernet port connects to the laptop.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Frames received from either side are forwarded to the opposite side.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The test verified real Ethernet traffic through FPGA hardware.</a:t>
            </a:r>
          </a:p>
        </p:txBody>
      </p:sp>
      <p:sp>
        <p:nvSpPr>
          <p:cNvPr id="8" name="Badge"/>
          <p:cNvSpPr/>
          <p:nvPr/>
        </p:nvSpPr>
        <p:spPr>
          <a:xfrm>
            <a:off x="8065008" y="4736592"/>
            <a:ext cx="3127248" cy="566928"/>
          </a:xfrm>
          <a:prstGeom prst="roundRect">
            <a:avLst/>
          </a:prstGeom>
          <a:solidFill>
            <a:srgbClr val="DFF8F3"/>
          </a:solidFill>
          <a:ln>
            <a:noFill/>
          </a:ln>
        </p:spPr>
      </p:sp>
      <p:sp>
        <p:nvSpPr>
          <p:cNvPr id="9" name="Badge text"/>
          <p:cNvSpPr txBox="1"/>
          <p:nvPr/>
        </p:nvSpPr>
        <p:spPr>
          <a:xfrm>
            <a:off x="8275320" y="4928616"/>
            <a:ext cx="26974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A6A6"/>
                </a:solidFill>
                <a:latin typeface="Aptos"/>
                <a:cs typeface="Aptos"/>
              </a:rPr>
              <a:t>Inline transparent bridge</a:t>
            </a:r>
          </a:p>
        </p:txBody>
      </p:sp>
      <p:sp>
        <p:nvSpPr>
          <p:cNvPr id="10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11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Design Requirements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The live system must move real Ethernet frames correctly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RGMII receive"/>
          <p:cNvSpPr/>
          <p:nvPr/>
        </p:nvSpPr>
        <p:spPr>
          <a:xfrm>
            <a:off x="749808" y="1417320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6" name="RGMII receive color"/>
          <p:cNvSpPr/>
          <p:nvPr/>
        </p:nvSpPr>
        <p:spPr>
          <a:xfrm>
            <a:off x="749808" y="1417320"/>
            <a:ext cx="3337560" cy="73152"/>
          </a:xfrm>
          <a:prstGeom prst="rect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7" name="RGMII receive icon"/>
          <p:cNvSpPr/>
          <p:nvPr/>
        </p:nvSpPr>
        <p:spPr>
          <a:xfrm>
            <a:off x="950976" y="1691640"/>
            <a:ext cx="310896" cy="310896"/>
          </a:xfrm>
          <a:prstGeom prst="ellipse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8" name="RGMII receive txt"/>
          <p:cNvSpPr txBox="1"/>
          <p:nvPr/>
        </p:nvSpPr>
        <p:spPr>
          <a:xfrm>
            <a:off x="1408176" y="1645920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65"/>
              </a:spcAft>
              <a:buNone/>
            </a:pPr>
            <a:r>
              <a:rPr lang="en-US" sz="1350" b="1" dirty="0">
                <a:solidFill>
                  <a:srgbClr val="0B1324"/>
                </a:solidFill>
                <a:latin typeface="Aptos"/>
                <a:cs typeface="Aptos"/>
              </a:rPr>
              <a:t>RGMII receive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526070"/>
                </a:solidFill>
                <a:latin typeface="Aptos"/>
                <a:cs typeface="Aptos"/>
              </a:rPr>
              <a:t>Receive and decode traffic from the PHY interfaces.</a:t>
            </a:r>
          </a:p>
        </p:txBody>
      </p:sp>
      <p:sp>
        <p:nvSpPr>
          <p:cNvPr id="9" name="AXI-Stream style"/>
          <p:cNvSpPr/>
          <p:nvPr/>
        </p:nvSpPr>
        <p:spPr>
          <a:xfrm>
            <a:off x="4544568" y="1417320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0" name="AXI-Stream style color"/>
          <p:cNvSpPr/>
          <p:nvPr/>
        </p:nvSpPr>
        <p:spPr>
          <a:xfrm>
            <a:off x="4544568" y="1417320"/>
            <a:ext cx="3337560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1" name="AXI-Stream style icon"/>
          <p:cNvSpPr/>
          <p:nvPr/>
        </p:nvSpPr>
        <p:spPr>
          <a:xfrm>
            <a:off x="4745736" y="1691640"/>
            <a:ext cx="310896" cy="310896"/>
          </a:xfrm>
          <a:prstGeom prst="ellipse">
            <a:avLst/>
          </a:prstGeom>
          <a:solidFill>
            <a:srgbClr val="E4FAF6"/>
          </a:solidFill>
          <a:ln>
            <a:noFill/>
          </a:ln>
        </p:spPr>
      </p:sp>
      <p:sp>
        <p:nvSpPr>
          <p:cNvPr id="12" name="AXI-Stream style txt"/>
          <p:cNvSpPr txBox="1"/>
          <p:nvPr/>
        </p:nvSpPr>
        <p:spPr>
          <a:xfrm>
            <a:off x="5202936" y="1645920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65"/>
              </a:spcAft>
              <a:buNone/>
            </a:pPr>
            <a:r>
              <a:rPr lang="en-US" sz="1350" b="1" dirty="0">
                <a:solidFill>
                  <a:srgbClr val="0B1324"/>
                </a:solidFill>
                <a:latin typeface="Aptos"/>
                <a:cs typeface="Aptos"/>
              </a:rPr>
              <a:t>AXI-Stream style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526070"/>
                </a:solidFill>
                <a:latin typeface="Aptos"/>
                <a:cs typeface="Aptos"/>
              </a:rPr>
              <a:t>Move frame bytes using tdata, tvalid, tready, tlast, and tuser.</a:t>
            </a:r>
          </a:p>
        </p:txBody>
      </p:sp>
      <p:sp>
        <p:nvSpPr>
          <p:cNvPr id="13" name="Clock crossing"/>
          <p:cNvSpPr/>
          <p:nvPr/>
        </p:nvSpPr>
        <p:spPr>
          <a:xfrm>
            <a:off x="8339328" y="1417320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4" name="Clock crossing color"/>
          <p:cNvSpPr/>
          <p:nvPr/>
        </p:nvSpPr>
        <p:spPr>
          <a:xfrm>
            <a:off x="8339328" y="1417320"/>
            <a:ext cx="3337560" cy="73152"/>
          </a:xfrm>
          <a:prstGeom prst="rect">
            <a:avLst/>
          </a:prstGeom>
          <a:solidFill>
            <a:srgbClr val="6D5DF2"/>
          </a:solidFill>
          <a:ln>
            <a:noFill/>
          </a:ln>
        </p:spPr>
      </p:sp>
      <p:sp>
        <p:nvSpPr>
          <p:cNvPr id="15" name="Clock crossing icon"/>
          <p:cNvSpPr/>
          <p:nvPr/>
        </p:nvSpPr>
        <p:spPr>
          <a:xfrm>
            <a:off x="8540496" y="1691640"/>
            <a:ext cx="310896" cy="310896"/>
          </a:xfrm>
          <a:prstGeom prst="ellipse">
            <a:avLst/>
          </a:prstGeom>
          <a:solidFill>
            <a:srgbClr val="F0EEFF"/>
          </a:solidFill>
          <a:ln>
            <a:noFill/>
          </a:ln>
        </p:spPr>
      </p:sp>
      <p:sp>
        <p:nvSpPr>
          <p:cNvPr id="16" name="Clock crossing txt"/>
          <p:cNvSpPr txBox="1"/>
          <p:nvPr/>
        </p:nvSpPr>
        <p:spPr>
          <a:xfrm>
            <a:off x="8997696" y="1645920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65"/>
              </a:spcAft>
              <a:buNone/>
            </a:pPr>
            <a:r>
              <a:rPr lang="en-US" sz="1350" b="1" dirty="0">
                <a:solidFill>
                  <a:srgbClr val="0B1324"/>
                </a:solidFill>
                <a:latin typeface="Aptos"/>
                <a:cs typeface="Aptos"/>
              </a:rPr>
              <a:t>Clock crossing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526070"/>
                </a:solidFill>
                <a:latin typeface="Aptos"/>
                <a:cs typeface="Aptos"/>
              </a:rPr>
              <a:t>Use asynchronous FIFOs between receive and transmit clock domains.</a:t>
            </a:r>
          </a:p>
        </p:txBody>
      </p:sp>
      <p:sp>
        <p:nvSpPr>
          <p:cNvPr id="17" name="Frame integrity"/>
          <p:cNvSpPr/>
          <p:nvPr/>
        </p:nvSpPr>
        <p:spPr>
          <a:xfrm>
            <a:off x="749808" y="3282696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8" name="Frame integrity color"/>
          <p:cNvSpPr/>
          <p:nvPr/>
        </p:nvSpPr>
        <p:spPr>
          <a:xfrm>
            <a:off x="749808" y="3282696"/>
            <a:ext cx="333756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9" name="Frame integrity icon"/>
          <p:cNvSpPr/>
          <p:nvPr/>
        </p:nvSpPr>
        <p:spPr>
          <a:xfrm>
            <a:off x="950976" y="3557016"/>
            <a:ext cx="310896" cy="310896"/>
          </a:xfrm>
          <a:prstGeom prst="ellipse">
            <a:avLst/>
          </a:prstGeom>
          <a:solidFill>
            <a:srgbClr val="FFE9EF"/>
          </a:solidFill>
          <a:ln>
            <a:noFill/>
          </a:ln>
        </p:spPr>
      </p:sp>
      <p:sp>
        <p:nvSpPr>
          <p:cNvPr id="20" name="Frame integrity txt"/>
          <p:cNvSpPr txBox="1"/>
          <p:nvPr/>
        </p:nvSpPr>
        <p:spPr>
          <a:xfrm>
            <a:off x="1408176" y="3511296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65"/>
              </a:spcAft>
              <a:buNone/>
            </a:pPr>
            <a:r>
              <a:rPr lang="en-US" sz="1350" b="1" dirty="0">
                <a:solidFill>
                  <a:srgbClr val="0B1324"/>
                </a:solidFill>
                <a:latin typeface="Aptos"/>
                <a:cs typeface="Aptos"/>
              </a:rPr>
              <a:t>Frame integrity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526070"/>
                </a:solidFill>
                <a:latin typeface="Aptos"/>
                <a:cs typeface="Aptos"/>
              </a:rPr>
              <a:t>Check incoming FCS/bad-frame status and regenerate FCS on transmit.</a:t>
            </a:r>
          </a:p>
        </p:txBody>
      </p:sp>
      <p:sp>
        <p:nvSpPr>
          <p:cNvPr id="21" name="Transmit framing"/>
          <p:cNvSpPr/>
          <p:nvPr/>
        </p:nvSpPr>
        <p:spPr>
          <a:xfrm>
            <a:off x="4544568" y="3282696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22" name="Transmit framing color"/>
          <p:cNvSpPr/>
          <p:nvPr/>
        </p:nvSpPr>
        <p:spPr>
          <a:xfrm>
            <a:off x="4544568" y="3282696"/>
            <a:ext cx="3337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Transmit framing icon"/>
          <p:cNvSpPr/>
          <p:nvPr/>
        </p:nvSpPr>
        <p:spPr>
          <a:xfrm>
            <a:off x="4745736" y="3557016"/>
            <a:ext cx="310896" cy="310896"/>
          </a:xfrm>
          <a:prstGeom prst="ellipse">
            <a:avLst/>
          </a:prstGeom>
          <a:solidFill>
            <a:srgbClr val="FFF4D7"/>
          </a:solidFill>
          <a:ln>
            <a:noFill/>
          </a:ln>
        </p:spPr>
      </p:sp>
      <p:sp>
        <p:nvSpPr>
          <p:cNvPr id="24" name="Transmit framing txt"/>
          <p:cNvSpPr txBox="1"/>
          <p:nvPr/>
        </p:nvSpPr>
        <p:spPr>
          <a:xfrm>
            <a:off x="5202936" y="3511296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65"/>
              </a:spcAft>
              <a:buNone/>
            </a:pPr>
            <a:r>
              <a:rPr lang="en-US" sz="1350" b="1" dirty="0">
                <a:solidFill>
                  <a:srgbClr val="0B1324"/>
                </a:solidFill>
                <a:latin typeface="Aptos"/>
                <a:cs typeface="Aptos"/>
              </a:rPr>
              <a:t>Transmit framing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526070"/>
                </a:solidFill>
                <a:latin typeface="Aptos"/>
                <a:cs typeface="Aptos"/>
              </a:rPr>
              <a:t>Add preamble, pad short frames when needed, and drive the opposite PHY.</a:t>
            </a:r>
          </a:p>
        </p:txBody>
      </p:sp>
      <p:sp>
        <p:nvSpPr>
          <p:cNvPr id="25" name="Debug status"/>
          <p:cNvSpPr/>
          <p:nvPr/>
        </p:nvSpPr>
        <p:spPr>
          <a:xfrm>
            <a:off x="8339328" y="3282696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26" name="Debug status color"/>
          <p:cNvSpPr/>
          <p:nvPr/>
        </p:nvSpPr>
        <p:spPr>
          <a:xfrm>
            <a:off x="8339328" y="3282696"/>
            <a:ext cx="3337560" cy="73152"/>
          </a:xfrm>
          <a:prstGeom prst="rect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27" name="Debug status icon"/>
          <p:cNvSpPr/>
          <p:nvPr/>
        </p:nvSpPr>
        <p:spPr>
          <a:xfrm>
            <a:off x="8540496" y="3557016"/>
            <a:ext cx="310896" cy="310896"/>
          </a:xfrm>
          <a:prstGeom prst="ellipse">
            <a:avLst/>
          </a:prstGeom>
          <a:solidFill>
            <a:srgbClr val="EEF2F7"/>
          </a:solidFill>
          <a:ln>
            <a:noFill/>
          </a:ln>
        </p:spPr>
      </p:sp>
      <p:sp>
        <p:nvSpPr>
          <p:cNvPr id="28" name="Debug status txt"/>
          <p:cNvSpPr txBox="1"/>
          <p:nvPr/>
        </p:nvSpPr>
        <p:spPr>
          <a:xfrm>
            <a:off x="8997696" y="3511296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65"/>
              </a:spcAft>
              <a:buNone/>
            </a:pPr>
            <a:r>
              <a:rPr lang="en-US" sz="1350" b="1" dirty="0">
                <a:solidFill>
                  <a:srgbClr val="0B1324"/>
                </a:solidFill>
                <a:latin typeface="Aptos"/>
                <a:cs typeface="Aptos"/>
              </a:rPr>
              <a:t>Debug status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526070"/>
                </a:solidFill>
                <a:latin typeface="Aptos"/>
                <a:cs typeface="Aptos"/>
              </a:rPr>
              <a:t>Provide LED indications for traffic, reset, link speed, and frame status.</a:t>
            </a:r>
          </a:p>
        </p:txBody>
      </p:sp>
      <p:sp>
        <p:nvSpPr>
          <p:cNvPr id="29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30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31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Selected Design Approach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Stabilize the transparent bridge first, then insert filtering logic later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Software firewall"/>
          <p:cNvSpPr/>
          <p:nvPr/>
        </p:nvSpPr>
        <p:spPr>
          <a:xfrm>
            <a:off x="804672" y="1554480"/>
            <a:ext cx="3310128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6" name="Software firewall num"/>
          <p:cNvSpPr/>
          <p:nvPr/>
        </p:nvSpPr>
        <p:spPr>
          <a:xfrm>
            <a:off x="1024128" y="1810512"/>
            <a:ext cx="420624" cy="420624"/>
          </a:xfrm>
          <a:prstGeom prst="ellipse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7" name="Software firewall number"/>
          <p:cNvSpPr txBox="1"/>
          <p:nvPr/>
        </p:nvSpPr>
        <p:spPr>
          <a:xfrm>
            <a:off x="1024128" y="1956816"/>
            <a:ext cx="420624" cy="100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8" name="Software firewall text"/>
          <p:cNvSpPr txBox="1"/>
          <p:nvPr/>
        </p:nvSpPr>
        <p:spPr>
          <a:xfrm>
            <a:off x="1572768" y="1764792"/>
            <a:ext cx="2267712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B1324"/>
                </a:solidFill>
                <a:latin typeface="Aptos"/>
                <a:cs typeface="Aptos"/>
              </a:rPr>
              <a:t>Software firewall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20" dirty="0">
                <a:solidFill>
                  <a:srgbClr val="526070"/>
                </a:solidFill>
                <a:latin typeface="Aptos"/>
                <a:cs typeface="Aptos"/>
              </a:rPr>
              <a:t>Flexible, but does not prove the FPGA can sit inline and forward real traffic.</a:t>
            </a:r>
          </a:p>
        </p:txBody>
      </p:sp>
      <p:sp>
        <p:nvSpPr>
          <p:cNvPr id="9" name="Full FPGA firewall"/>
          <p:cNvSpPr/>
          <p:nvPr/>
        </p:nvSpPr>
        <p:spPr>
          <a:xfrm>
            <a:off x="4626864" y="1554480"/>
            <a:ext cx="3310128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0" name="Full FPGA firewall num"/>
          <p:cNvSpPr/>
          <p:nvPr/>
        </p:nvSpPr>
        <p:spPr>
          <a:xfrm>
            <a:off x="4846320" y="1810512"/>
            <a:ext cx="420624" cy="42062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1" name="Full FPGA firewall number"/>
          <p:cNvSpPr txBox="1"/>
          <p:nvPr/>
        </p:nvSpPr>
        <p:spPr>
          <a:xfrm>
            <a:off x="4846320" y="1956816"/>
            <a:ext cx="420624" cy="100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12" name="Full FPGA firewall text"/>
          <p:cNvSpPr txBox="1"/>
          <p:nvPr/>
        </p:nvSpPr>
        <p:spPr>
          <a:xfrm>
            <a:off x="5394960" y="1764792"/>
            <a:ext cx="2267712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B1324"/>
                </a:solidFill>
                <a:latin typeface="Aptos"/>
                <a:cs typeface="Aptos"/>
              </a:rPr>
              <a:t>Full FPGA firewall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20" dirty="0">
                <a:solidFill>
                  <a:srgbClr val="526070"/>
                </a:solidFill>
                <a:latin typeface="Aptos"/>
                <a:cs typeface="Aptos"/>
              </a:rPr>
              <a:t>Important future direction; requires field extraction, rule storage, buffering, and timing validation.</a:t>
            </a:r>
          </a:p>
        </p:txBody>
      </p:sp>
      <p:sp>
        <p:nvSpPr>
          <p:cNvPr id="13" name="Transparent bridge"/>
          <p:cNvSpPr/>
          <p:nvPr/>
        </p:nvSpPr>
        <p:spPr>
          <a:xfrm>
            <a:off x="8449056" y="1554480"/>
            <a:ext cx="3310128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4" name="Transparent bridge num"/>
          <p:cNvSpPr/>
          <p:nvPr/>
        </p:nvSpPr>
        <p:spPr>
          <a:xfrm>
            <a:off x="8668512" y="1810512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5" name="Transparent bridge number"/>
          <p:cNvSpPr txBox="1"/>
          <p:nvPr/>
        </p:nvSpPr>
        <p:spPr>
          <a:xfrm>
            <a:off x="8668512" y="1956816"/>
            <a:ext cx="420624" cy="100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16" name="Transparent bridge text"/>
          <p:cNvSpPr txBox="1"/>
          <p:nvPr/>
        </p:nvSpPr>
        <p:spPr>
          <a:xfrm>
            <a:off x="9217152" y="1764792"/>
            <a:ext cx="2267712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B1324"/>
                </a:solidFill>
                <a:latin typeface="Aptos"/>
                <a:cs typeface="Aptos"/>
              </a:rPr>
              <a:t>Transparent bridge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20" dirty="0">
                <a:solidFill>
                  <a:srgbClr val="526070"/>
                </a:solidFill>
                <a:latin typeface="Aptos"/>
                <a:cs typeface="Aptos"/>
              </a:rPr>
              <a:t>Selected current build: validates physical Ethernet path, RGMII handling, clock crossing, and transmit operation.</a:t>
            </a:r>
          </a:p>
        </p:txBody>
      </p:sp>
      <p:sp>
        <p:nvSpPr>
          <p:cNvPr id="17" name="Selected ribbon"/>
          <p:cNvSpPr/>
          <p:nvPr/>
        </p:nvSpPr>
        <p:spPr>
          <a:xfrm>
            <a:off x="8668512" y="3429000"/>
            <a:ext cx="987552" cy="228600"/>
          </a:xfrm>
          <a:prstGeom prst="roundRect">
            <a:avLst/>
          </a:prstGeom>
          <a:solidFill>
            <a:srgbClr val="E4FAF6"/>
          </a:solidFill>
          <a:ln>
            <a:noFill/>
          </a:ln>
        </p:spPr>
      </p:sp>
      <p:sp>
        <p:nvSpPr>
          <p:cNvPr id="18" name="Selected text"/>
          <p:cNvSpPr txBox="1"/>
          <p:nvPr/>
        </p:nvSpPr>
        <p:spPr>
          <a:xfrm>
            <a:off x="8705088" y="3511296"/>
            <a:ext cx="914400" cy="640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670" b="1" dirty="0">
                <a:solidFill>
                  <a:srgbClr val="00A6A6"/>
                </a:solidFill>
                <a:latin typeface="Aptos"/>
                <a:cs typeface="Aptos"/>
              </a:rPr>
              <a:t>SELECTED</a:t>
            </a:r>
          </a:p>
        </p:txBody>
      </p:sp>
      <p:sp>
        <p:nvSpPr>
          <p:cNvPr id="19" name="Limit panel"/>
          <p:cNvSpPr/>
          <p:nvPr/>
        </p:nvSpPr>
        <p:spPr>
          <a:xfrm>
            <a:off x="1225296" y="4526280"/>
            <a:ext cx="9738360" cy="731520"/>
          </a:xfrm>
          <a:prstGeom prst="roundRect">
            <a:avLst/>
          </a:prstGeom>
          <a:solidFill>
            <a:srgbClr val="0B1324"/>
          </a:solidFill>
          <a:ln>
            <a:noFill/>
          </a:ln>
        </p:spPr>
      </p:sp>
      <p:sp>
        <p:nvSpPr>
          <p:cNvPr id="20" name="Limitation"/>
          <p:cNvSpPr txBox="1"/>
          <p:nvPr/>
        </p:nvSpPr>
        <p:spPr>
          <a:xfrm>
            <a:off x="1508760" y="4736592"/>
            <a:ext cx="9235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  <a:cs typeface="Aptos"/>
              </a:rPr>
              <a:t>Current limitation: active allow/drop packet filtering is not yet running on the FPGA board.</a:t>
            </a:r>
          </a:p>
        </p:txBody>
      </p:sp>
      <p:sp>
        <p:nvSpPr>
          <p:cNvPr id="21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22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23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Bridge Architecture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Active modules in the Quartus board build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Architecture image panel"/>
          <p:cNvSpPr/>
          <p:nvPr/>
        </p:nvSpPr>
        <p:spPr>
          <a:xfrm>
            <a:off x="685800" y="1371600"/>
            <a:ext cx="6629400" cy="40050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pic>
        <p:nvPicPr>
          <p:cNvPr id="6" name="Top Level System 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83221"/>
            <a:ext cx="6217920" cy="2662958"/>
          </a:xfrm>
          <a:prstGeom prst="rect">
            <a:avLst/>
          </a:prstGeom>
        </p:spPr>
      </p:pic>
      <p:sp>
        <p:nvSpPr>
          <p:cNvPr id="7" name="fpga.v"/>
          <p:cNvSpPr/>
          <p:nvPr/>
        </p:nvSpPr>
        <p:spPr>
          <a:xfrm>
            <a:off x="7607808" y="1417320"/>
            <a:ext cx="36118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8" name="fpga.v module"/>
          <p:cNvSpPr txBox="1"/>
          <p:nvPr/>
        </p:nvSpPr>
        <p:spPr>
          <a:xfrm>
            <a:off x="7818120" y="15453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60" b="1" dirty="0">
                <a:solidFill>
                  <a:srgbClr val="0B1324"/>
                </a:solidFill>
                <a:latin typeface="Aptos"/>
                <a:cs typeface="Aptos"/>
              </a:rPr>
              <a:t>fpga.v: </a:t>
            </a:r>
            <a:r>
              <a:rPr lang="en-US" sz="1060" dirty="0">
                <a:solidFill>
                  <a:srgbClr val="526070"/>
                </a:solidFill>
                <a:latin typeface="Aptos"/>
                <a:cs typeface="Aptos"/>
              </a:rPr>
              <a:t>PLL, reset synchronization, physical pin wiring</a:t>
            </a:r>
          </a:p>
        </p:txBody>
      </p:sp>
      <p:sp>
        <p:nvSpPr>
          <p:cNvPr id="9" name="fpga_core.v"/>
          <p:cNvSpPr/>
          <p:nvPr/>
        </p:nvSpPr>
        <p:spPr>
          <a:xfrm>
            <a:off x="7607808" y="2148840"/>
            <a:ext cx="36118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0" name="fpga_core.v module"/>
          <p:cNvSpPr txBox="1"/>
          <p:nvPr/>
        </p:nvSpPr>
        <p:spPr>
          <a:xfrm>
            <a:off x="7818120" y="227685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60" b="1" dirty="0">
                <a:solidFill>
                  <a:srgbClr val="0B1324"/>
                </a:solidFill>
                <a:latin typeface="Aptos"/>
                <a:cs typeface="Aptos"/>
              </a:rPr>
              <a:t>fpga_core.v: </a:t>
            </a:r>
            <a:r>
              <a:rPr lang="en-US" sz="1060" dirty="0">
                <a:solidFill>
                  <a:srgbClr val="526070"/>
                </a:solidFill>
                <a:latin typeface="Aptos"/>
                <a:cs typeface="Aptos"/>
              </a:rPr>
              <a:t>Main bridge datapath and LED/debug status</a:t>
            </a:r>
          </a:p>
        </p:txBody>
      </p:sp>
      <p:sp>
        <p:nvSpPr>
          <p:cNvPr id="11" name="de2_rgmii_rx.v"/>
          <p:cNvSpPr/>
          <p:nvPr/>
        </p:nvSpPr>
        <p:spPr>
          <a:xfrm>
            <a:off x="7607808" y="2880360"/>
            <a:ext cx="36118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2" name="de2_rgmii_rx.v module"/>
          <p:cNvSpPr txBox="1"/>
          <p:nvPr/>
        </p:nvSpPr>
        <p:spPr>
          <a:xfrm>
            <a:off x="7818120" y="300837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60" b="1" dirty="0">
                <a:solidFill>
                  <a:srgbClr val="0B1324"/>
                </a:solidFill>
                <a:latin typeface="Aptos"/>
                <a:cs typeface="Aptos"/>
              </a:rPr>
              <a:t>de2_rgmii_rx.v: </a:t>
            </a:r>
            <a:r>
              <a:rPr lang="en-US" sz="1060" dirty="0">
                <a:solidFill>
                  <a:srgbClr val="526070"/>
                </a:solidFill>
                <a:latin typeface="Aptos"/>
                <a:cs typeface="Aptos"/>
              </a:rPr>
              <a:t>RGMII DDR receive alignment and frame decoding</a:t>
            </a:r>
          </a:p>
        </p:txBody>
      </p:sp>
      <p:sp>
        <p:nvSpPr>
          <p:cNvPr id="13" name="axis_async_fifo.v"/>
          <p:cNvSpPr/>
          <p:nvPr/>
        </p:nvSpPr>
        <p:spPr>
          <a:xfrm>
            <a:off x="7607808" y="3611880"/>
            <a:ext cx="36118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4" name="axis_async_fifo.v module"/>
          <p:cNvSpPr txBox="1"/>
          <p:nvPr/>
        </p:nvSpPr>
        <p:spPr>
          <a:xfrm>
            <a:off x="7818120" y="373989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60" b="1" dirty="0">
                <a:solidFill>
                  <a:srgbClr val="0B1324"/>
                </a:solidFill>
                <a:latin typeface="Aptos"/>
                <a:cs typeface="Aptos"/>
              </a:rPr>
              <a:t>axis_async_fifo.v: </a:t>
            </a:r>
            <a:r>
              <a:rPr lang="en-US" sz="1060" dirty="0">
                <a:solidFill>
                  <a:srgbClr val="526070"/>
                </a:solidFill>
                <a:latin typeface="Aptos"/>
                <a:cs typeface="Aptos"/>
              </a:rPr>
              <a:t>Clock-domain crossing between RX and opposite TX</a:t>
            </a:r>
          </a:p>
        </p:txBody>
      </p:sp>
      <p:sp>
        <p:nvSpPr>
          <p:cNvPr id="15" name="verilog-ethernet"/>
          <p:cNvSpPr/>
          <p:nvPr/>
        </p:nvSpPr>
        <p:spPr>
          <a:xfrm>
            <a:off x="7607808" y="4343400"/>
            <a:ext cx="36118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</p:sp>
      <p:sp>
        <p:nvSpPr>
          <p:cNvPr id="16" name="verilog-ethernet module"/>
          <p:cNvSpPr txBox="1"/>
          <p:nvPr/>
        </p:nvSpPr>
        <p:spPr>
          <a:xfrm>
            <a:off x="7818120" y="447141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60" b="1" dirty="0">
                <a:solidFill>
                  <a:srgbClr val="0B1324"/>
                </a:solidFill>
                <a:latin typeface="Aptos"/>
                <a:cs typeface="Aptos"/>
              </a:rPr>
              <a:t>verilog-ethernet: </a:t>
            </a:r>
            <a:r>
              <a:rPr lang="en-US" sz="1060" dirty="0">
                <a:solidFill>
                  <a:srgbClr val="526070"/>
                </a:solidFill>
                <a:latin typeface="Aptos"/>
                <a:cs typeface="Aptos"/>
              </a:rPr>
              <a:t>MAC/RGMII support for transmit framing</a:t>
            </a:r>
          </a:p>
        </p:txBody>
      </p:sp>
      <p:sp>
        <p:nvSpPr>
          <p:cNvPr id="17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18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Receive Path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From RGMII pins to AXI-Stream frame bytes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RGMII RX"/>
          <p:cNvSpPr/>
          <p:nvPr/>
        </p:nvSpPr>
        <p:spPr>
          <a:xfrm>
            <a:off x="914400" y="1700784"/>
            <a:ext cx="1627632" cy="530352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6" name="RGMII RX text"/>
          <p:cNvSpPr txBox="1"/>
          <p:nvPr/>
        </p:nvSpPr>
        <p:spPr>
          <a:xfrm>
            <a:off x="950976" y="181965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RGMII RX</a:t>
            </a:r>
          </a:p>
        </p:txBody>
      </p:sp>
      <p:sp>
        <p:nvSpPr>
          <p:cNvPr id="7" name="Arrow"/>
          <p:cNvSpPr/>
          <p:nvPr/>
        </p:nvSpPr>
        <p:spPr>
          <a:xfrm>
            <a:off x="2651760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8" name="Aligned GMII"/>
          <p:cNvSpPr/>
          <p:nvPr/>
        </p:nvSpPr>
        <p:spPr>
          <a:xfrm>
            <a:off x="3044952" y="1700784"/>
            <a:ext cx="1627632" cy="5303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9" name="Aligned GMII text"/>
          <p:cNvSpPr txBox="1"/>
          <p:nvPr/>
        </p:nvSpPr>
        <p:spPr>
          <a:xfrm>
            <a:off x="3081528" y="181965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Aligned GMII</a:t>
            </a:r>
          </a:p>
        </p:txBody>
      </p:sp>
      <p:sp>
        <p:nvSpPr>
          <p:cNvPr id="10" name="Arrow"/>
          <p:cNvSpPr/>
          <p:nvPr/>
        </p:nvSpPr>
        <p:spPr>
          <a:xfrm>
            <a:off x="4782312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11" name="Frame bytes"/>
          <p:cNvSpPr/>
          <p:nvPr/>
        </p:nvSpPr>
        <p:spPr>
          <a:xfrm>
            <a:off x="5175504" y="1700784"/>
            <a:ext cx="1627632" cy="530352"/>
          </a:xfrm>
          <a:prstGeom prst="roundRect">
            <a:avLst/>
          </a:prstGeom>
          <a:solidFill>
            <a:srgbClr val="6D5DF2"/>
          </a:solidFill>
          <a:ln>
            <a:noFill/>
          </a:ln>
        </p:spPr>
      </p:sp>
      <p:sp>
        <p:nvSpPr>
          <p:cNvPr id="12" name="Frame bytes text"/>
          <p:cNvSpPr txBox="1"/>
          <p:nvPr/>
        </p:nvSpPr>
        <p:spPr>
          <a:xfrm>
            <a:off x="5212080" y="181965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Frame bytes</a:t>
            </a:r>
          </a:p>
        </p:txBody>
      </p:sp>
      <p:sp>
        <p:nvSpPr>
          <p:cNvPr id="13" name="Arrow"/>
          <p:cNvSpPr/>
          <p:nvPr/>
        </p:nvSpPr>
        <p:spPr>
          <a:xfrm>
            <a:off x="6912864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14" name="tuser status"/>
          <p:cNvSpPr/>
          <p:nvPr/>
        </p:nvSpPr>
        <p:spPr>
          <a:xfrm>
            <a:off x="7306056" y="1700784"/>
            <a:ext cx="1627632" cy="5303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5" name="tuser status text"/>
          <p:cNvSpPr txBox="1"/>
          <p:nvPr/>
        </p:nvSpPr>
        <p:spPr>
          <a:xfrm>
            <a:off x="7342632" y="181965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tuser status</a:t>
            </a:r>
          </a:p>
        </p:txBody>
      </p:sp>
      <p:sp>
        <p:nvSpPr>
          <p:cNvPr id="16" name="Receive bullets"/>
          <p:cNvSpPr txBox="1"/>
          <p:nvPr/>
        </p:nvSpPr>
        <p:spPr>
          <a:xfrm>
            <a:off x="960120" y="2788920"/>
            <a:ext cx="49834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Samples and aligns RGMII receive data.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Uses GMII receive logic to identify frames.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Checks frame integrity at the MAC receive stage using FCS.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Removes incoming preamble and FCS, then marks bad frames through tuser.</a:t>
            </a:r>
          </a:p>
        </p:txBody>
      </p:sp>
      <p:sp>
        <p:nvSpPr>
          <p:cNvPr id="17" name="Receive note"/>
          <p:cNvSpPr/>
          <p:nvPr/>
        </p:nvSpPr>
        <p:spPr>
          <a:xfrm>
            <a:off x="6629400" y="2788920"/>
            <a:ext cx="429768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8" name="Receive note text"/>
          <p:cNvSpPr txBox="1"/>
          <p:nvPr/>
        </p:nvSpPr>
        <p:spPr>
          <a:xfrm>
            <a:off x="6903720" y="3063240"/>
            <a:ext cx="3749040" cy="1225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A6A6"/>
                </a:solidFill>
                <a:latin typeface="Aptos"/>
                <a:cs typeface="Aptos"/>
              </a:rPr>
              <a:t>Important boundary</a:t>
            </a:r>
          </a:p>
          <a:p>
            <a:pPr algn="l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B1324"/>
                </a:solidFill>
                <a:latin typeface="Aptos"/>
                <a:cs typeface="Aptos"/>
              </a:rPr>
              <a:t>The active bridge treats frame contents as a byte stream. It does not inspect MAC/IP/TCP/UDP fields for filtering in this phase.</a:t>
            </a:r>
          </a:p>
        </p:txBody>
      </p:sp>
      <p:sp>
        <p:nvSpPr>
          <p:cNvPr id="19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20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Transmit Path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The opposite MAC rebuilds valid Ethernet output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Async FIFO"/>
          <p:cNvSpPr/>
          <p:nvPr/>
        </p:nvSpPr>
        <p:spPr>
          <a:xfrm>
            <a:off x="914400" y="1700784"/>
            <a:ext cx="1371600" cy="530352"/>
          </a:xfrm>
          <a:prstGeom prst="roundRect">
            <a:avLst/>
          </a:prstGeom>
          <a:solidFill>
            <a:srgbClr val="6D5DF2"/>
          </a:solidFill>
          <a:ln>
            <a:noFill/>
          </a:ln>
        </p:spPr>
      </p:sp>
      <p:sp>
        <p:nvSpPr>
          <p:cNvPr id="6" name="Async FIFO text"/>
          <p:cNvSpPr txBox="1"/>
          <p:nvPr/>
        </p:nvSpPr>
        <p:spPr>
          <a:xfrm>
            <a:off x="950976" y="1819656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Async FIFO</a:t>
            </a:r>
          </a:p>
        </p:txBody>
      </p:sp>
      <p:sp>
        <p:nvSpPr>
          <p:cNvPr id="7" name="Arrow"/>
          <p:cNvSpPr/>
          <p:nvPr/>
        </p:nvSpPr>
        <p:spPr>
          <a:xfrm>
            <a:off x="2395728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8" name="TX MAC"/>
          <p:cNvSpPr/>
          <p:nvPr/>
        </p:nvSpPr>
        <p:spPr>
          <a:xfrm>
            <a:off x="2788920" y="1700784"/>
            <a:ext cx="1371600" cy="530352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9" name="TX MAC text"/>
          <p:cNvSpPr txBox="1"/>
          <p:nvPr/>
        </p:nvSpPr>
        <p:spPr>
          <a:xfrm>
            <a:off x="2825496" y="1819656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TX MAC</a:t>
            </a:r>
          </a:p>
        </p:txBody>
      </p:sp>
      <p:sp>
        <p:nvSpPr>
          <p:cNvPr id="10" name="Arrow"/>
          <p:cNvSpPr/>
          <p:nvPr/>
        </p:nvSpPr>
        <p:spPr>
          <a:xfrm>
            <a:off x="4270248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11" name="Preamble / pad"/>
          <p:cNvSpPr/>
          <p:nvPr/>
        </p:nvSpPr>
        <p:spPr>
          <a:xfrm>
            <a:off x="4663440" y="1700784"/>
            <a:ext cx="1371600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Preamble / pad text"/>
          <p:cNvSpPr txBox="1"/>
          <p:nvPr/>
        </p:nvSpPr>
        <p:spPr>
          <a:xfrm>
            <a:off x="4700016" y="1819656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Preamble / pad</a:t>
            </a:r>
          </a:p>
        </p:txBody>
      </p:sp>
      <p:sp>
        <p:nvSpPr>
          <p:cNvPr id="13" name="Arrow"/>
          <p:cNvSpPr/>
          <p:nvPr/>
        </p:nvSpPr>
        <p:spPr>
          <a:xfrm>
            <a:off x="6144768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14" name="New FCS"/>
          <p:cNvSpPr/>
          <p:nvPr/>
        </p:nvSpPr>
        <p:spPr>
          <a:xfrm>
            <a:off x="6537960" y="1700784"/>
            <a:ext cx="1371600" cy="5303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5" name="New FCS text"/>
          <p:cNvSpPr txBox="1"/>
          <p:nvPr/>
        </p:nvSpPr>
        <p:spPr>
          <a:xfrm>
            <a:off x="6574536" y="1819656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New FCS</a:t>
            </a:r>
          </a:p>
        </p:txBody>
      </p:sp>
      <p:sp>
        <p:nvSpPr>
          <p:cNvPr id="16" name="Arrow"/>
          <p:cNvSpPr/>
          <p:nvPr/>
        </p:nvSpPr>
        <p:spPr>
          <a:xfrm>
            <a:off x="8019288" y="1901952"/>
            <a:ext cx="292608" cy="128016"/>
          </a:xfrm>
          <a:prstGeom prst="rightArrow">
            <a:avLst/>
          </a:prstGeom>
          <a:solidFill>
            <a:srgbClr val="526070"/>
          </a:solidFill>
          <a:ln>
            <a:noFill/>
          </a:ln>
        </p:spPr>
      </p:sp>
      <p:sp>
        <p:nvSpPr>
          <p:cNvPr id="17" name="RGMII TX"/>
          <p:cNvSpPr/>
          <p:nvPr/>
        </p:nvSpPr>
        <p:spPr>
          <a:xfrm>
            <a:off x="8412480" y="1700784"/>
            <a:ext cx="1371600" cy="5303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8" name="RGMII TX text"/>
          <p:cNvSpPr txBox="1"/>
          <p:nvPr/>
        </p:nvSpPr>
        <p:spPr>
          <a:xfrm>
            <a:off x="8449056" y="1819656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RGMII TX</a:t>
            </a:r>
          </a:p>
        </p:txBody>
      </p:sp>
      <p:sp>
        <p:nvSpPr>
          <p:cNvPr id="19" name="Transmit bullets"/>
          <p:cNvSpPr txBox="1"/>
          <p:nvPr/>
        </p:nvSpPr>
        <p:spPr>
          <a:xfrm>
            <a:off x="896112" y="2816352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FIFO transfers the frame stream into the opposite transmit clock domain.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Transmit MAC adds the required Ethernet preamble.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Short frames are padded when needed.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700" dirty="0">
                <a:solidFill>
                  <a:srgbClr val="0B1324"/>
                </a:solidFill>
                <a:latin typeface="Aptos"/>
                <a:cs typeface="Aptos"/>
              </a:rPr>
              <a:t>A new frame check sequence is regenerated before transmission.</a:t>
            </a:r>
          </a:p>
        </p:txBody>
      </p:sp>
      <p:sp>
        <p:nvSpPr>
          <p:cNvPr id="20" name="FCS panel"/>
          <p:cNvSpPr/>
          <p:nvPr/>
        </p:nvSpPr>
        <p:spPr>
          <a:xfrm>
            <a:off x="6601968" y="2542032"/>
            <a:ext cx="4315968" cy="1572768"/>
          </a:xfrm>
          <a:prstGeom prst="roundRect">
            <a:avLst/>
          </a:prstGeom>
          <a:solidFill>
            <a:srgbClr val="0B1324"/>
          </a:solidFill>
          <a:ln>
            <a:noFill/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21" name="FCS text"/>
          <p:cNvSpPr txBox="1"/>
          <p:nvPr/>
        </p:nvSpPr>
        <p:spPr>
          <a:xfrm>
            <a:off x="6931152" y="2852928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12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ptos"/>
                <a:cs typeface="Aptos"/>
              </a:rPr>
              <a:t>Receive checks FCS.</a:t>
            </a:r>
          </a:p>
          <a:p>
            <a:pPr algn="c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A6A6"/>
                </a:solidFill>
                <a:latin typeface="Aptos"/>
                <a:cs typeface="Aptos"/>
              </a:rPr>
              <a:t>Transmit regenerates FCS.</a:t>
            </a:r>
          </a:p>
        </p:txBody>
      </p:sp>
      <p:sp>
        <p:nvSpPr>
          <p:cNvPr id="22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23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Board Top-Level Logic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Clocking, reset synchronization, PHY reset delay, and bridge core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Board image panel"/>
          <p:cNvSpPr/>
          <p:nvPr/>
        </p:nvSpPr>
        <p:spPr>
          <a:xfrm>
            <a:off x="694944" y="1298448"/>
            <a:ext cx="6053328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pic>
        <p:nvPicPr>
          <p:cNvPr id="6" name="Board top 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508760"/>
            <a:ext cx="4974336" cy="3730752"/>
          </a:xfrm>
          <a:prstGeom prst="rect">
            <a:avLst/>
          </a:prstGeom>
        </p:spPr>
      </p:pic>
      <p:sp>
        <p:nvSpPr>
          <p:cNvPr id="7" name="Board bullets"/>
          <p:cNvSpPr txBox="1"/>
          <p:nvPr/>
        </p:nvSpPr>
        <p:spPr>
          <a:xfrm>
            <a:off x="7223760" y="1536192"/>
            <a:ext cx="3794760" cy="3017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fpga.v handles PLL, reset synchronization, and physical Ethernet pin wiring.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The 50 MHz board oscillator feeds the PLL for FPGA/interface clocks.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PHY reset delay supports stable startup.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600" dirty="0">
                <a:solidFill>
                  <a:srgbClr val="0B1324"/>
                </a:solidFill>
                <a:latin typeface="Aptos"/>
                <a:cs typeface="Aptos"/>
              </a:rPr>
              <a:t>Ethernet PHYs recover timing from the physical Ethernet signal.</a:t>
            </a:r>
          </a:p>
        </p:txBody>
      </p:sp>
      <p:sp>
        <p:nvSpPr>
          <p:cNvPr id="8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9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Runtime Packet Flow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Traffic crosses the FPGA bridge in both directions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Runtime image panel"/>
          <p:cNvSpPr/>
          <p:nvPr/>
        </p:nvSpPr>
        <p:spPr>
          <a:xfrm>
            <a:off x="658368" y="1261872"/>
            <a:ext cx="690372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pic>
        <p:nvPicPr>
          <p:cNvPr id="6" name="Runtime sequ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8" y="1527048"/>
            <a:ext cx="6445417" cy="3767328"/>
          </a:xfrm>
          <a:prstGeom prst="rect">
            <a:avLst/>
          </a:prstGeom>
        </p:spPr>
      </p:pic>
      <p:sp>
        <p:nvSpPr>
          <p:cNvPr id="7" name="Runtime bullets"/>
          <p:cNvSpPr txBox="1"/>
          <p:nvPr/>
        </p:nvSpPr>
        <p:spPr>
          <a:xfrm>
            <a:off x="7973568" y="1572768"/>
            <a:ext cx="324612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80" dirty="0">
                <a:solidFill>
                  <a:srgbClr val="0B1324"/>
                </a:solidFill>
                <a:latin typeface="Aptos"/>
                <a:cs typeface="Aptos"/>
              </a:rPr>
              <a:t>Laptop traffic can include DHCP, ARP, ICMP, DNS, and normal IP traffic.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80" dirty="0">
                <a:solidFill>
                  <a:srgbClr val="0B1324"/>
                </a:solidFill>
                <a:latin typeface="Aptos"/>
                <a:cs typeface="Aptos"/>
              </a:rPr>
              <a:t>Router replies return through the opposite direction of the same bridge.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80" dirty="0">
                <a:solidFill>
                  <a:srgbClr val="0B1324"/>
                </a:solidFill>
                <a:latin typeface="Aptos"/>
                <a:cs typeface="Aptos"/>
              </a:rPr>
              <a:t>This verifies inline transparent Ethernet bridge behavior.</a:t>
            </a:r>
          </a:p>
        </p:txBody>
      </p:sp>
      <p:sp>
        <p:nvSpPr>
          <p:cNvPr id="8" name="Result badge"/>
          <p:cNvSpPr/>
          <p:nvPr/>
        </p:nvSpPr>
        <p:spPr>
          <a:xfrm>
            <a:off x="8065008" y="4608576"/>
            <a:ext cx="3063240" cy="60350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9" name="Result badge text"/>
          <p:cNvSpPr txBox="1"/>
          <p:nvPr/>
        </p:nvSpPr>
        <p:spPr>
          <a:xfrm>
            <a:off x="8247888" y="4818888"/>
            <a:ext cx="26974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cs typeface="Aptos"/>
              </a:rPr>
              <a:t>Working bridge path</a:t>
            </a:r>
          </a:p>
        </p:txBody>
      </p:sp>
      <p:sp>
        <p:nvSpPr>
          <p:cNvPr id="10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11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Standards and Constraints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Engineering frame for the implementation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IEEE 802.3"/>
          <p:cNvSpPr/>
          <p:nvPr/>
        </p:nvSpPr>
        <p:spPr>
          <a:xfrm>
            <a:off x="768096" y="1426464"/>
            <a:ext cx="3657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6" name="IEEE 802.3 accent"/>
          <p:cNvSpPr/>
          <p:nvPr/>
        </p:nvSpPr>
        <p:spPr>
          <a:xfrm>
            <a:off x="768096" y="1426464"/>
            <a:ext cx="64008" cy="932688"/>
          </a:xfrm>
          <a:prstGeom prst="rect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7" name="IEEE 802.3 text"/>
          <p:cNvSpPr txBox="1"/>
          <p:nvPr/>
        </p:nvSpPr>
        <p:spPr>
          <a:xfrm>
            <a:off x="996696" y="1627632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5"/>
              </a:spcAft>
              <a:buNone/>
            </a:pPr>
            <a:r>
              <a:rPr lang="en-US" sz="1300" b="1" dirty="0">
                <a:solidFill>
                  <a:srgbClr val="0B1324"/>
                </a:solidFill>
                <a:latin typeface="Aptos"/>
                <a:cs typeface="Aptos"/>
              </a:rPr>
              <a:t>IEEE 802.3</a:t>
            </a:r>
          </a:p>
          <a:p>
            <a:pPr algn="l">
              <a:spcAft>
                <a:spcPts val="0"/>
              </a:spcAft>
              <a:buNone/>
            </a:pPr>
            <a:r>
              <a:rPr lang="en-US" sz="990" dirty="0">
                <a:solidFill>
                  <a:srgbClr val="526070"/>
                </a:solidFill>
                <a:latin typeface="Aptos"/>
                <a:cs typeface="Aptos"/>
              </a:rPr>
              <a:t>Ethernet frame behavior, MAC addressing, and FCS.</a:t>
            </a:r>
          </a:p>
        </p:txBody>
      </p:sp>
      <p:sp>
        <p:nvSpPr>
          <p:cNvPr id="8" name="RGMII"/>
          <p:cNvSpPr/>
          <p:nvPr/>
        </p:nvSpPr>
        <p:spPr>
          <a:xfrm>
            <a:off x="4882896" y="1426464"/>
            <a:ext cx="3657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9" name="RGMII accent"/>
          <p:cNvSpPr/>
          <p:nvPr/>
        </p:nvSpPr>
        <p:spPr>
          <a:xfrm>
            <a:off x="4882896" y="1426464"/>
            <a:ext cx="64008" cy="93268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0" name="RGMII text"/>
          <p:cNvSpPr txBox="1"/>
          <p:nvPr/>
        </p:nvSpPr>
        <p:spPr>
          <a:xfrm>
            <a:off x="5111496" y="1627632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5"/>
              </a:spcAft>
              <a:buNone/>
            </a:pPr>
            <a:r>
              <a:rPr lang="en-US" sz="1300" b="1" dirty="0">
                <a:solidFill>
                  <a:srgbClr val="0B1324"/>
                </a:solidFill>
                <a:latin typeface="Aptos"/>
                <a:cs typeface="Aptos"/>
              </a:rPr>
              <a:t>RGMII</a:t>
            </a:r>
          </a:p>
          <a:p>
            <a:pPr algn="l">
              <a:spcAft>
                <a:spcPts val="0"/>
              </a:spcAft>
              <a:buNone/>
            </a:pPr>
            <a:r>
              <a:rPr lang="en-US" sz="990" dirty="0">
                <a:solidFill>
                  <a:srgbClr val="526070"/>
                </a:solidFill>
                <a:latin typeface="Aptos"/>
                <a:cs typeface="Aptos"/>
              </a:rPr>
              <a:t>PHY-to-FPGA MAC-side interface.</a:t>
            </a:r>
          </a:p>
        </p:txBody>
      </p:sp>
      <p:sp>
        <p:nvSpPr>
          <p:cNvPr id="11" name="AXI-Stream style"/>
          <p:cNvSpPr/>
          <p:nvPr/>
        </p:nvSpPr>
        <p:spPr>
          <a:xfrm>
            <a:off x="768096" y="2779776"/>
            <a:ext cx="3657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2" name="AXI-Stream style accent"/>
          <p:cNvSpPr/>
          <p:nvPr/>
        </p:nvSpPr>
        <p:spPr>
          <a:xfrm>
            <a:off x="768096" y="2779776"/>
            <a:ext cx="64008" cy="932688"/>
          </a:xfrm>
          <a:prstGeom prst="rect">
            <a:avLst/>
          </a:prstGeom>
          <a:solidFill>
            <a:srgbClr val="6D5DF2"/>
          </a:solidFill>
          <a:ln>
            <a:noFill/>
          </a:ln>
        </p:spPr>
      </p:sp>
      <p:sp>
        <p:nvSpPr>
          <p:cNvPr id="13" name="AXI-Stream style text"/>
          <p:cNvSpPr txBox="1"/>
          <p:nvPr/>
        </p:nvSpPr>
        <p:spPr>
          <a:xfrm>
            <a:off x="996696" y="2980944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5"/>
              </a:spcAft>
              <a:buNone/>
            </a:pPr>
            <a:r>
              <a:rPr lang="en-US" sz="1300" b="1" dirty="0">
                <a:solidFill>
                  <a:srgbClr val="0B1324"/>
                </a:solidFill>
                <a:latin typeface="Aptos"/>
                <a:cs typeface="Aptos"/>
              </a:rPr>
              <a:t>AXI-Stream style</a:t>
            </a:r>
          </a:p>
          <a:p>
            <a:pPr algn="l">
              <a:spcAft>
                <a:spcPts val="0"/>
              </a:spcAft>
              <a:buNone/>
            </a:pPr>
            <a:r>
              <a:rPr lang="en-US" sz="990" dirty="0">
                <a:solidFill>
                  <a:srgbClr val="526070"/>
                </a:solidFill>
                <a:latin typeface="Aptos"/>
                <a:cs typeface="Aptos"/>
              </a:rPr>
              <a:t>Internal frame movement using tdata, tvalid, tready, tlast, tuser.</a:t>
            </a:r>
          </a:p>
        </p:txBody>
      </p:sp>
      <p:sp>
        <p:nvSpPr>
          <p:cNvPr id="14" name="Verilog + Quartus"/>
          <p:cNvSpPr/>
          <p:nvPr/>
        </p:nvSpPr>
        <p:spPr>
          <a:xfrm>
            <a:off x="4882896" y="2779776"/>
            <a:ext cx="3657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5" name="Verilog + Quartus accent"/>
          <p:cNvSpPr/>
          <p:nvPr/>
        </p:nvSpPr>
        <p:spPr>
          <a:xfrm>
            <a:off x="4882896" y="2779776"/>
            <a:ext cx="64008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Verilog + Quartus text"/>
          <p:cNvSpPr txBox="1"/>
          <p:nvPr/>
        </p:nvSpPr>
        <p:spPr>
          <a:xfrm>
            <a:off x="5111496" y="2980944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5"/>
              </a:spcAft>
              <a:buNone/>
            </a:pPr>
            <a:r>
              <a:rPr lang="en-US" sz="1300" b="1" dirty="0">
                <a:solidFill>
                  <a:srgbClr val="0B1324"/>
                </a:solidFill>
                <a:latin typeface="Aptos"/>
                <a:cs typeface="Aptos"/>
              </a:rPr>
              <a:t>Verilog + Quartus</a:t>
            </a:r>
          </a:p>
          <a:p>
            <a:pPr algn="l">
              <a:spcAft>
                <a:spcPts val="0"/>
              </a:spcAft>
              <a:buNone/>
            </a:pPr>
            <a:r>
              <a:rPr lang="en-US" sz="990" dirty="0">
                <a:solidFill>
                  <a:srgbClr val="526070"/>
                </a:solidFill>
                <a:latin typeface="Aptos"/>
                <a:cs typeface="Aptos"/>
              </a:rPr>
              <a:t>Synthesizable HDL and FPGA design flow.</a:t>
            </a:r>
          </a:p>
        </p:txBody>
      </p:sp>
      <p:sp>
        <p:nvSpPr>
          <p:cNvPr id="17" name="Constraints panel"/>
          <p:cNvSpPr/>
          <p:nvPr/>
        </p:nvSpPr>
        <p:spPr>
          <a:xfrm>
            <a:off x="8869680" y="1426464"/>
            <a:ext cx="2395728" cy="3639312"/>
          </a:xfrm>
          <a:prstGeom prst="roundRect">
            <a:avLst/>
          </a:prstGeom>
          <a:solidFill>
            <a:srgbClr val="0B1324"/>
          </a:solidFill>
          <a:ln>
            <a:noFill/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18" name="Constraints"/>
          <p:cNvSpPr txBox="1"/>
          <p:nvPr/>
        </p:nvSpPr>
        <p:spPr>
          <a:xfrm>
            <a:off x="9125712" y="1737360"/>
            <a:ext cx="1892808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A6A6"/>
                </a:solidFill>
                <a:latin typeface="Aptos"/>
                <a:cs typeface="Aptos"/>
              </a:rPr>
              <a:t>Key constraints</a:t>
            </a:r>
          </a:p>
          <a:p>
            <a:pPr algn="l">
              <a:spcAft>
                <a:spcPts val="120"/>
              </a:spcAft>
              <a:buNone/>
            </a:pPr>
            <a:r>
              <a:rPr lang="en-US" sz="1280" b="1" dirty="0">
                <a:solidFill>
                  <a:srgbClr val="FFFFFF"/>
                </a:solidFill>
                <a:latin typeface="Aptos"/>
                <a:cs typeface="Aptos"/>
              </a:rPr>
              <a:t>Existing DE2-115 board</a:t>
            </a:r>
          </a:p>
          <a:p>
            <a:pPr algn="l">
              <a:spcAft>
                <a:spcPts val="120"/>
              </a:spcAft>
              <a:buNone/>
            </a:pPr>
            <a:r>
              <a:rPr lang="en-US" sz="1280" b="1" dirty="0">
                <a:solidFill>
                  <a:srgbClr val="FFFFFF"/>
                </a:solidFill>
                <a:latin typeface="Aptos"/>
                <a:cs typeface="Aptos"/>
              </a:rPr>
              <a:t>Timing across clock domains</a:t>
            </a:r>
          </a:p>
          <a:p>
            <a:pPr algn="l">
              <a:spcAft>
                <a:spcPts val="120"/>
              </a:spcAft>
              <a:buNone/>
            </a:pPr>
            <a:r>
              <a:rPr lang="en-US" sz="1280" b="1" dirty="0">
                <a:solidFill>
                  <a:srgbClr val="FFFFFF"/>
                </a:solidFill>
                <a:latin typeface="Aptos"/>
                <a:cs typeface="Aptos"/>
              </a:rPr>
              <a:t>Valid Ethernet transmit framing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80" b="1" dirty="0">
                <a:solidFill>
                  <a:srgbClr val="FFFFFF"/>
                </a:solidFill>
                <a:latin typeface="Aptos"/>
                <a:cs typeface="Aptos"/>
              </a:rPr>
              <a:t>Resource headroom for future filtering</a:t>
            </a:r>
          </a:p>
        </p:txBody>
      </p:sp>
      <p:sp>
        <p:nvSpPr>
          <p:cNvPr id="19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20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Current Limitations and Future Work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Accuracy matters: the active build is not a live firewall yet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Limits"/>
          <p:cNvSpPr/>
          <p:nvPr/>
        </p:nvSpPr>
        <p:spPr>
          <a:xfrm>
            <a:off x="804672" y="1481328"/>
            <a:ext cx="5138928" cy="3584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6" name="Future"/>
          <p:cNvSpPr/>
          <p:nvPr/>
        </p:nvSpPr>
        <p:spPr>
          <a:xfrm>
            <a:off x="6272784" y="1481328"/>
            <a:ext cx="5138928" cy="3584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7" name="Limits bar"/>
          <p:cNvSpPr/>
          <p:nvPr/>
        </p:nvSpPr>
        <p:spPr>
          <a:xfrm>
            <a:off x="804672" y="1481328"/>
            <a:ext cx="5138928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8" name="Future bar"/>
          <p:cNvSpPr/>
          <p:nvPr/>
        </p:nvSpPr>
        <p:spPr>
          <a:xfrm>
            <a:off x="6272784" y="1481328"/>
            <a:ext cx="5138928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9" name="Limits text"/>
          <p:cNvSpPr txBox="1"/>
          <p:nvPr/>
        </p:nvSpPr>
        <p:spPr>
          <a:xfrm>
            <a:off x="1115568" y="1828800"/>
            <a:ext cx="452628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60"/>
              </a:spcAft>
              <a:buNone/>
            </a:pPr>
            <a:r>
              <a:rPr lang="en-US" sz="1700" b="1" dirty="0">
                <a:solidFill>
                  <a:srgbClr val="0B1324"/>
                </a:solidFill>
                <a:latin typeface="Aptos"/>
                <a:cs typeface="Aptos"/>
              </a:rPr>
              <a:t>Current board build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No live packet filtering.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No active key-field packet inspection.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No programmable allow/drop rule matching on the FPGA board.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Older firewall-related files remain development material outside the active Quartus build.</a:t>
            </a:r>
          </a:p>
        </p:txBody>
      </p:sp>
      <p:sp>
        <p:nvSpPr>
          <p:cNvPr id="10" name="Future text"/>
          <p:cNvSpPr txBox="1"/>
          <p:nvPr/>
        </p:nvSpPr>
        <p:spPr>
          <a:xfrm>
            <a:off x="6583680" y="1828800"/>
            <a:ext cx="452628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60"/>
              </a:spcAft>
              <a:buNone/>
            </a:pPr>
            <a:r>
              <a:rPr lang="en-US" sz="1700" b="1" dirty="0">
                <a:solidFill>
                  <a:srgbClr val="0B1324"/>
                </a:solidFill>
                <a:latin typeface="Aptos"/>
                <a:cs typeface="Aptos"/>
              </a:rPr>
              <a:t>Next integration steps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Insert filtering logic into the proven bridge path.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Add header extraction for Ethernet/IP/TCP/UDP fields.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Add rule storage and allow/drop decision logic.</a:t>
            </a:r>
          </a:p>
          <a:p>
            <a:pPr marL="237744" indent="-146304" algn="l">
              <a:spcAft>
                <a:spcPts val="650"/>
              </a:spcAft>
              <a:buFont typeface="Aptos"/>
              <a:buChar char="•"/>
            </a:pPr>
            <a:r>
              <a:rPr lang="en-US" sz="1550" dirty="0">
                <a:solidFill>
                  <a:srgbClr val="0B1324"/>
                </a:solidFill>
                <a:latin typeface="Aptos"/>
                <a:cs typeface="Aptos"/>
              </a:rPr>
              <a:t>Validate timing and behavior with live traffic.</a:t>
            </a:r>
          </a:p>
        </p:txBody>
      </p:sp>
      <p:sp>
        <p:nvSpPr>
          <p:cNvPr id="11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12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713232" y="713232"/>
            <a:ext cx="10771632" cy="5047488"/>
          </a:xfrm>
          <a:prstGeom prst="roundRect">
            <a:avLst/>
          </a:prstGeom>
          <a:solidFill>
            <a:srgbClr val="101B31"/>
          </a:solidFill>
          <a:ln w="9525">
            <a:solidFill>
              <a:srgbClr val="2C3852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4" name="Takeaway title"/>
          <p:cNvSpPr txBox="1"/>
          <p:nvPr/>
        </p:nvSpPr>
        <p:spPr>
          <a:xfrm>
            <a:off x="1115568" y="11430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/>
                <a:cs typeface="Aptos Display"/>
              </a:rPr>
              <a:t>Project Takeaway</a:t>
            </a:r>
          </a:p>
        </p:txBody>
      </p:sp>
      <p:sp>
        <p:nvSpPr>
          <p:cNvPr id="5" name="Takeaway accent"/>
          <p:cNvSpPr/>
          <p:nvPr/>
        </p:nvSpPr>
        <p:spPr>
          <a:xfrm>
            <a:off x="4983480" y="1874520"/>
            <a:ext cx="2212848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Implemented"/>
          <p:cNvSpPr/>
          <p:nvPr/>
        </p:nvSpPr>
        <p:spPr>
          <a:xfrm>
            <a:off x="1600200" y="248716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7" name="Implemented text"/>
          <p:cNvSpPr txBox="1"/>
          <p:nvPr/>
        </p:nvSpPr>
        <p:spPr>
          <a:xfrm>
            <a:off x="2240280" y="2514600"/>
            <a:ext cx="754380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ptos"/>
                <a:cs typeface="Aptos"/>
              </a:rPr>
              <a:t>Implemented </a:t>
            </a:r>
            <a:r>
              <a:rPr lang="en-US" sz="1700" dirty="0">
                <a:solidFill>
                  <a:srgbClr val="D3DDF0"/>
                </a:solidFill>
                <a:latin typeface="Aptos"/>
                <a:cs typeface="Aptos"/>
              </a:rPr>
              <a:t>a transparent Ethernet bridge on the DE2-115.</a:t>
            </a:r>
          </a:p>
        </p:txBody>
      </p:sp>
      <p:sp>
        <p:nvSpPr>
          <p:cNvPr id="8" name="Validated"/>
          <p:cNvSpPr/>
          <p:nvPr/>
        </p:nvSpPr>
        <p:spPr>
          <a:xfrm>
            <a:off x="1600200" y="3355848"/>
            <a:ext cx="420624" cy="420624"/>
          </a:xfrm>
          <a:prstGeom prst="ellipse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9" name="Validated text"/>
          <p:cNvSpPr txBox="1"/>
          <p:nvPr/>
        </p:nvSpPr>
        <p:spPr>
          <a:xfrm>
            <a:off x="2240280" y="3383280"/>
            <a:ext cx="754380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ptos"/>
                <a:cs typeface="Aptos"/>
              </a:rPr>
              <a:t>Validated </a:t>
            </a:r>
            <a:r>
              <a:rPr lang="en-US" sz="1700" dirty="0">
                <a:solidFill>
                  <a:srgbClr val="D3DDF0"/>
                </a:solidFill>
                <a:latin typeface="Aptos"/>
                <a:cs typeface="Aptos"/>
              </a:rPr>
              <a:t>RGMII receive alignment, FIFO clock crossing, MAC transmit framing, and FCS handling.</a:t>
            </a:r>
          </a:p>
        </p:txBody>
      </p:sp>
      <p:sp>
        <p:nvSpPr>
          <p:cNvPr id="10" name="Established"/>
          <p:cNvSpPr/>
          <p:nvPr/>
        </p:nvSpPr>
        <p:spPr>
          <a:xfrm>
            <a:off x="1600200" y="422452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Established text"/>
          <p:cNvSpPr txBox="1"/>
          <p:nvPr/>
        </p:nvSpPr>
        <p:spPr>
          <a:xfrm>
            <a:off x="2240280" y="4251960"/>
            <a:ext cx="754380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ptos"/>
                <a:cs typeface="Aptos"/>
              </a:rPr>
              <a:t>Established </a:t>
            </a:r>
            <a:r>
              <a:rPr lang="en-US" sz="1700" dirty="0">
                <a:solidFill>
                  <a:srgbClr val="D3DDF0"/>
                </a:solidFill>
                <a:latin typeface="Aptos"/>
                <a:cs typeface="Aptos"/>
              </a:rPr>
              <a:t>the live inline hardware path needed for future FPGA firewall filtering.</a:t>
            </a:r>
          </a:p>
        </p:txBody>
      </p:sp>
      <p:sp>
        <p:nvSpPr>
          <p:cNvPr id="12" name="Discussion"/>
          <p:cNvSpPr txBox="1"/>
          <p:nvPr/>
        </p:nvSpPr>
        <p:spPr>
          <a:xfrm>
            <a:off x="868680" y="6016752"/>
            <a:ext cx="10469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  <a:cs typeface="Aptos"/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2800" b="1" dirty="0">
                <a:solidFill>
                  <a:srgbClr val="0B1324"/>
                </a:solidFill>
                <a:latin typeface="Aptos"/>
                <a:cs typeface="Aptos"/>
              </a:rPr>
              <a:t>References</a:t>
            </a:r>
          </a:p>
        </p:txBody>
      </p:sp>
      <p:sp>
        <p:nvSpPr>
          <p:cNvPr id="3" name="Slide subtitle"/>
          <p:cNvSpPr txBox="1"/>
          <p:nvPr/>
        </p:nvSpPr>
        <p:spPr>
          <a:xfrm>
            <a:off x="685800" y="9326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50"/>
              </a:spcAft>
              <a:buNone/>
            </a:pPr>
            <a:r>
              <a:rPr lang="en-US" sz="1150" dirty="0">
                <a:solidFill>
                  <a:srgbClr val="526070"/>
                </a:solidFill>
                <a:latin typeface="Aptos"/>
                <a:cs typeface="Aptos"/>
              </a:rPr>
              <a:t>Sources listed in the final documentation</a:t>
            </a:r>
          </a:p>
        </p:txBody>
      </p:sp>
      <p:sp>
        <p:nvSpPr>
          <p:cNvPr id="4" name="Accent line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5" name="Refs panel"/>
          <p:cNvSpPr/>
          <p:nvPr/>
        </p:nvSpPr>
        <p:spPr>
          <a:xfrm>
            <a:off x="822960" y="1444752"/>
            <a:ext cx="105613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50800" dist="25400" dir="5400000" algn="tl" rotWithShape="0">
              <a:srgbClr val="0B1324">
                <a:alpha val="12000"/>
              </a:srgbClr>
            </a:outerShdw>
          </a:effectLst>
        </p:spPr>
      </p:sp>
      <p:sp>
        <p:nvSpPr>
          <p:cNvPr id="6" name="Ref 1"/>
          <p:cNvSpPr/>
          <p:nvPr/>
        </p:nvSpPr>
        <p:spPr>
          <a:xfrm>
            <a:off x="1170432" y="1783080"/>
            <a:ext cx="347472" cy="347472"/>
          </a:xfrm>
          <a:prstGeom prst="ellipse">
            <a:avLst/>
          </a:prstGeom>
          <a:solidFill>
            <a:srgbClr val="2557D6"/>
          </a:solidFill>
          <a:ln>
            <a:noFill/>
          </a:ln>
        </p:spPr>
      </p:sp>
      <p:sp>
        <p:nvSpPr>
          <p:cNvPr id="7" name="Ref number 1"/>
          <p:cNvSpPr txBox="1"/>
          <p:nvPr/>
        </p:nvSpPr>
        <p:spPr>
          <a:xfrm>
            <a:off x="1170432" y="1901952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819" b="1" dirty="0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8" name="Ref text 1"/>
          <p:cNvSpPr txBox="1"/>
          <p:nvPr/>
        </p:nvSpPr>
        <p:spPr>
          <a:xfrm>
            <a:off x="1737360" y="1810512"/>
            <a:ext cx="9006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40" dirty="0">
                <a:solidFill>
                  <a:srgbClr val="0B1324"/>
                </a:solidFill>
                <a:latin typeface="Aptos"/>
                <a:cs typeface="Aptos"/>
              </a:rPr>
              <a:t>IEEE Computer Society, "IEEE Standard for Ethernet," IEEE Std 802.3.</a:t>
            </a:r>
          </a:p>
        </p:txBody>
      </p:sp>
      <p:sp>
        <p:nvSpPr>
          <p:cNvPr id="9" name="Ref 2"/>
          <p:cNvSpPr/>
          <p:nvPr/>
        </p:nvSpPr>
        <p:spPr>
          <a:xfrm>
            <a:off x="1170432" y="2569464"/>
            <a:ext cx="347472" cy="3474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0" name="Ref number 2"/>
          <p:cNvSpPr txBox="1"/>
          <p:nvPr/>
        </p:nvSpPr>
        <p:spPr>
          <a:xfrm>
            <a:off x="1170432" y="2688336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819" b="1" dirty="0">
                <a:solidFill>
                  <a:srgbClr val="FFFFFF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11" name="Ref text 2"/>
          <p:cNvSpPr txBox="1"/>
          <p:nvPr/>
        </p:nvSpPr>
        <p:spPr>
          <a:xfrm>
            <a:off x="1737360" y="2596896"/>
            <a:ext cx="9006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40" dirty="0">
                <a:solidFill>
                  <a:srgbClr val="0B1324"/>
                </a:solidFill>
                <a:latin typeface="Aptos"/>
                <a:cs typeface="Aptos"/>
              </a:rPr>
              <a:t>Hewlett-Packard Company and contributors, "Reduced Gigabit Media Independent Interface (RGMII), Version 2.0," 2002.</a:t>
            </a:r>
          </a:p>
        </p:txBody>
      </p:sp>
      <p:sp>
        <p:nvSpPr>
          <p:cNvPr id="12" name="Ref 3"/>
          <p:cNvSpPr/>
          <p:nvPr/>
        </p:nvSpPr>
        <p:spPr>
          <a:xfrm>
            <a:off x="1170432" y="335584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3" name="Ref number 3"/>
          <p:cNvSpPr txBox="1"/>
          <p:nvPr/>
        </p:nvSpPr>
        <p:spPr>
          <a:xfrm>
            <a:off x="1170432" y="3474720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819" b="1" dirty="0">
                <a:solidFill>
                  <a:srgbClr val="FFFFFF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14" name="Ref text 3"/>
          <p:cNvSpPr txBox="1"/>
          <p:nvPr/>
        </p:nvSpPr>
        <p:spPr>
          <a:xfrm>
            <a:off x="1737360" y="3383280"/>
            <a:ext cx="9006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40" dirty="0">
                <a:solidFill>
                  <a:srgbClr val="0B1324"/>
                </a:solidFill>
                <a:latin typeface="Aptos"/>
                <a:cs typeface="Aptos"/>
              </a:rPr>
              <a:t>A. Forencich, "verilog-ethernet: Verilog Ethernet components for FPGA implementation," GitHub.</a:t>
            </a:r>
          </a:p>
        </p:txBody>
      </p:sp>
      <p:sp>
        <p:nvSpPr>
          <p:cNvPr id="15" name="Ref 4"/>
          <p:cNvSpPr/>
          <p:nvPr/>
        </p:nvSpPr>
        <p:spPr>
          <a:xfrm>
            <a:off x="1170432" y="4142232"/>
            <a:ext cx="347472" cy="347472"/>
          </a:xfrm>
          <a:prstGeom prst="ellipse">
            <a:avLst/>
          </a:prstGeom>
          <a:solidFill>
            <a:srgbClr val="6D5DF2"/>
          </a:solidFill>
          <a:ln>
            <a:noFill/>
          </a:ln>
        </p:spPr>
      </p:sp>
      <p:sp>
        <p:nvSpPr>
          <p:cNvPr id="16" name="Ref number 4"/>
          <p:cNvSpPr txBox="1"/>
          <p:nvPr/>
        </p:nvSpPr>
        <p:spPr>
          <a:xfrm>
            <a:off x="1170432" y="4261104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/>
          </a:bodyPr>
          <a:lstStyle/>
          <a:p>
            <a:pPr algn="c">
              <a:spcAft>
                <a:spcPts val="0"/>
              </a:spcAft>
              <a:buNone/>
            </a:pPr>
            <a:r>
              <a:rPr lang="en-US" sz="819" b="1" dirty="0">
                <a:solidFill>
                  <a:srgbClr val="FFFFFF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17" name="Ref text 4"/>
          <p:cNvSpPr txBox="1"/>
          <p:nvPr/>
        </p:nvSpPr>
        <p:spPr>
          <a:xfrm>
            <a:off x="1737360" y="4169664"/>
            <a:ext cx="9006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40" dirty="0">
                <a:solidFill>
                  <a:srgbClr val="0B1324"/>
                </a:solidFill>
                <a:latin typeface="Aptos"/>
                <a:cs typeface="Aptos"/>
              </a:rPr>
              <a:t>Intel Corporation, "Intel Quartus Prime Design Software Documentation."</a:t>
            </a:r>
          </a:p>
        </p:txBody>
      </p:sp>
      <p:sp>
        <p:nvSpPr>
          <p:cNvPr id="18" name="Footer line"/>
          <p:cNvSpPr/>
          <p:nvPr/>
        </p:nvSpPr>
        <p:spPr>
          <a:xfrm>
            <a:off x="658368" y="6510528"/>
            <a:ext cx="10863072" cy="10973"/>
          </a:xfrm>
          <a:prstGeom prst="rect">
            <a:avLst/>
          </a:prstGeom>
          <a:solidFill>
            <a:srgbClr val="CFD6E2"/>
          </a:solidFill>
          <a:ln>
            <a:noFill/>
          </a:ln>
        </p:spPr>
      </p:sp>
      <p:sp>
        <p:nvSpPr>
          <p:cNvPr id="19" name="Footer"/>
          <p:cNvSpPr txBox="1"/>
          <p:nvPr/>
        </p:nvSpPr>
        <p:spPr>
          <a:xfrm>
            <a:off x="658368" y="6547104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FPGA-Based Transparent Ethernet Bridge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0954512" y="6547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780" dirty="0">
                <a:solidFill>
                  <a:srgbClr val="8894A5"/>
                </a:solidFill>
                <a:latin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GA Bridge Theme">
  <a:themeElements>
    <a:clrScheme name="FPGA Bridge">
      <a:dk1>
        <a:srgbClr val="0B1324"/>
      </a:dk1>
      <a:lt1>
        <a:srgbClr val="FFFFFF"/>
      </a:lt1>
      <a:dk2>
        <a:srgbClr val="162033"/>
      </a:dk2>
      <a:lt2>
        <a:srgbClr val="F5F7FB"/>
      </a:lt2>
      <a:accent1>
        <a:srgbClr val="2557D6"/>
      </a:accent1>
      <a:accent2>
        <a:srgbClr val="00A6A6"/>
      </a:accent2>
      <a:accent3>
        <a:srgbClr val="F59E0B"/>
      </a:accent3>
      <a:accent4>
        <a:srgbClr val="E11D48"/>
      </a:accent4>
      <a:accent5>
        <a:srgbClr val="6D5DF2"/>
      </a:accent5>
      <a:accent6>
        <a:srgbClr val="526070"/>
      </a:accent6>
      <a:hlink>
        <a:srgbClr val="2557D6"/>
      </a:hlink>
      <a:folHlink>
        <a:srgbClr val="6D5DF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  <a:solidFill>
          <a:schemeClr val="phClr">
            <a:tint val="90000"/>
          </a:schemeClr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14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FPGA-Based Transparent Ethernet Bridge Project Discussion</dc:title>
  <dc:creator>Codex</dc:creator>
  <cp:lastModifiedBy>Codex</cp:lastModifiedBy>
  <dcterms:created xsi:type="dcterms:W3CDTF">2026-05-08T20:33:08Z</dcterms:created>
  <dcterms:modified xsi:type="dcterms:W3CDTF">2026-05-08T20:33:08Z</dcterms:modified>
</cp:coreProperties>
</file>